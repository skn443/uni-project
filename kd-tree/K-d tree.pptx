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7"/>
  </p:notesMasterIdLst>
  <p:handoutMasterIdLst>
    <p:handoutMasterId r:id="rId28"/>
  </p:handoutMasterIdLst>
  <p:sldIdLst>
    <p:sldId id="256" r:id="rId5"/>
    <p:sldId id="295" r:id="rId6"/>
    <p:sldId id="297" r:id="rId7"/>
    <p:sldId id="277" r:id="rId8"/>
    <p:sldId id="296" r:id="rId9"/>
    <p:sldId id="261" r:id="rId10"/>
    <p:sldId id="298" r:id="rId11"/>
    <p:sldId id="262" r:id="rId12"/>
    <p:sldId id="289" r:id="rId13"/>
    <p:sldId id="299" r:id="rId14"/>
    <p:sldId id="300" r:id="rId15"/>
    <p:sldId id="301" r:id="rId16"/>
    <p:sldId id="302" r:id="rId17"/>
    <p:sldId id="264" r:id="rId18"/>
    <p:sldId id="303" r:id="rId19"/>
    <p:sldId id="304" r:id="rId20"/>
    <p:sldId id="278" r:id="rId21"/>
    <p:sldId id="305" r:id="rId22"/>
    <p:sldId id="307" r:id="rId23"/>
    <p:sldId id="308" r:id="rId24"/>
    <p:sldId id="309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53-449F-8EEE-DAFE02C9D55A}"/>
              </c:ext>
            </c:extLst>
          </c:dPt>
          <c:dPt>
            <c:idx val="1"/>
            <c:bubble3D val="0"/>
            <c:spPr>
              <a:solidFill>
                <a:schemeClr val="accent4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53-449F-8EEE-DAFE02C9D55A}"/>
              </c:ext>
            </c:extLst>
          </c:dPt>
          <c:dPt>
            <c:idx val="2"/>
            <c:bubble3D val="0"/>
            <c:spPr>
              <a:solidFill>
                <a:schemeClr val="accent4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53-449F-8EEE-DAFE02C9D55A}"/>
              </c:ext>
            </c:extLst>
          </c:dPt>
          <c:dPt>
            <c:idx val="3"/>
            <c:bubble3D val="0"/>
            <c:spPr>
              <a:solidFill>
                <a:schemeClr val="accent4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053-449F-8EEE-DAFE02C9D55A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053-449F-8EEE-DAFE02C9D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F-4BF0-8F10-ABD16F5CE816}"/>
              </c:ext>
            </c:extLst>
          </c:dPt>
          <c:dPt>
            <c:idx val="1"/>
            <c:bubble3D val="0"/>
            <c:spPr>
              <a:solidFill>
                <a:schemeClr val="accent4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F-4BF0-8F10-ABD16F5CE816}"/>
              </c:ext>
            </c:extLst>
          </c:dPt>
          <c:dPt>
            <c:idx val="2"/>
            <c:bubble3D val="0"/>
            <c:spPr>
              <a:solidFill>
                <a:schemeClr val="accent4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F-4BF0-8F10-ABD16F5CE816}"/>
              </c:ext>
            </c:extLst>
          </c:dPt>
          <c:dPt>
            <c:idx val="3"/>
            <c:bubble3D val="0"/>
            <c:spPr>
              <a:solidFill>
                <a:schemeClr val="accent4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F-4BF0-8F10-ABD16F5CE816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F-4BF0-8F10-ABD16F5CE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E9-4E94-80F7-BFCC462FBBF8}"/>
              </c:ext>
            </c:extLst>
          </c:dPt>
          <c:dPt>
            <c:idx val="1"/>
            <c:bubble3D val="0"/>
            <c:spPr>
              <a:solidFill>
                <a:schemeClr val="accent4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E9-4E94-80F7-BFCC462FBBF8}"/>
              </c:ext>
            </c:extLst>
          </c:dPt>
          <c:dPt>
            <c:idx val="2"/>
            <c:bubble3D val="0"/>
            <c:spPr>
              <a:solidFill>
                <a:schemeClr val="accent4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4E9-4E94-80F7-BFCC462FBBF8}"/>
              </c:ext>
            </c:extLst>
          </c:dPt>
          <c:dPt>
            <c:idx val="3"/>
            <c:bubble3D val="0"/>
            <c:spPr>
              <a:solidFill>
                <a:schemeClr val="accent4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4E9-4E94-80F7-BFCC462FBBF8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E9-4E94-80F7-BFCC462FB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36-472F-A031-021DB627CD92}"/>
              </c:ext>
            </c:extLst>
          </c:dPt>
          <c:dPt>
            <c:idx val="1"/>
            <c:bubble3D val="0"/>
            <c:spPr>
              <a:solidFill>
                <a:schemeClr val="accent4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B36-472F-A031-021DB627CD92}"/>
              </c:ext>
            </c:extLst>
          </c:dPt>
          <c:dPt>
            <c:idx val="2"/>
            <c:bubble3D val="0"/>
            <c:spPr>
              <a:solidFill>
                <a:schemeClr val="accent4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B36-472F-A031-021DB627CD92}"/>
              </c:ext>
            </c:extLst>
          </c:dPt>
          <c:dPt>
            <c:idx val="3"/>
            <c:bubble3D val="0"/>
            <c:spPr>
              <a:solidFill>
                <a:schemeClr val="accent4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B36-472F-A031-021DB627CD92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B36-472F-A031-021DB627C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0.61197</cdr:x>
      <cdr:y>0</cdr:y>
    </cdr:from>
    <cdr:to>
      <cdr:x>1</cdr:x>
      <cdr:y>0.72079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8290B41C-DD7E-5F46-6B9A-8AD4139074D0}"/>
            </a:ext>
          </a:extLst>
        </cdr:cNvPr>
        <cdr:cNvSpPr/>
      </cdr:nvSpPr>
      <cdr:spPr>
        <a:xfrm xmlns:a="http://schemas.openxmlformats.org/drawingml/2006/main">
          <a:off x="1136657" y="-2370138"/>
          <a:ext cx="720718" cy="120032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91440" tIns="45720" rIns="91440" bIns="4572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 sz="7200" b="0" cap="none" spc="0" dirty="0">
            <a:ln w="0"/>
            <a:solidFill>
              <a:schemeClr val="accent4">
                <a:lumMod val="60000"/>
                <a:lumOff val="40000"/>
              </a:schemeClr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6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KN443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K-d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Nguyễn Hoàng Hải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F33B-5572-4A00-A55C-1E13A6B3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TỔNG QUAN</a:t>
            </a:r>
          </a:p>
        </p:txBody>
      </p:sp>
      <p:graphicFrame>
        <p:nvGraphicFramePr>
          <p:cNvPr id="58" name="Content Placeholder 57" title="Funding Chart">
            <a:extLst>
              <a:ext uri="{FF2B5EF4-FFF2-40B4-BE49-F238E27FC236}">
                <a16:creationId xmlns:a16="http://schemas.microsoft.com/office/drawing/2014/main" id="{0231F8BC-AEBA-4843-9F73-E06265724EAB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3938937132"/>
              </p:ext>
            </p:extLst>
          </p:nvPr>
        </p:nvGraphicFramePr>
        <p:xfrm>
          <a:off x="107473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4739B-8DE9-4523-8034-4E83861C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LÝ 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45D0E-892D-492B-8AD6-551CF27DD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62665" y="3788813"/>
            <a:ext cx="2342205" cy="80485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graphicFrame>
        <p:nvGraphicFramePr>
          <p:cNvPr id="60" name="Content Placeholder 59" title="Funding Chart">
            <a:extLst>
              <a:ext uri="{FF2B5EF4-FFF2-40B4-BE49-F238E27FC236}">
                <a16:creationId xmlns:a16="http://schemas.microsoft.com/office/drawing/2014/main" id="{81BCDC44-04F0-4390-B965-A86C88176708}"/>
              </a:ext>
            </a:extLst>
          </p:cNvPr>
          <p:cNvGraphicFramePr>
            <a:graphicFrameLocks noGrp="1"/>
          </p:cNvGraphicFramePr>
          <p:nvPr>
            <p:ph sz="quarter" idx="23"/>
          </p:nvPr>
        </p:nvGraphicFramePr>
        <p:xfrm>
          <a:off x="652938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6E4F1A-AD73-4086-B578-235F0B9F1F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609" y="3788813"/>
            <a:ext cx="2330726" cy="80485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K-D TREE</a:t>
            </a:r>
          </a:p>
        </p:txBody>
      </p:sp>
      <p:graphicFrame>
        <p:nvGraphicFramePr>
          <p:cNvPr id="61" name="Content Placeholder 60" title="Funding Chart">
            <a:extLst>
              <a:ext uri="{FF2B5EF4-FFF2-40B4-BE49-F238E27FC236}">
                <a16:creationId xmlns:a16="http://schemas.microsoft.com/office/drawing/2014/main" id="{D78C801B-5A42-4B88-AF2C-A3C45CD69E2E}"/>
              </a:ext>
            </a:extLst>
          </p:cNvPr>
          <p:cNvGraphicFramePr>
            <a:graphicFrameLocks noGrp="1"/>
          </p:cNvGraphicFramePr>
          <p:nvPr>
            <p:ph sz="quarter" idx="24"/>
          </p:nvPr>
        </p:nvGraphicFramePr>
        <p:xfrm>
          <a:off x="925988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0E657A-85D8-48A8-B017-274F0C32C5C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023074" y="3788457"/>
            <a:ext cx="2330726" cy="80485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KẾT LUẬN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C0B64-8F13-426F-B6C5-9C9427AC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z="1200" smtClean="0"/>
              <a:pPr/>
              <a:t>2</a:t>
            </a:fld>
            <a:endParaRPr lang="en-US" sz="1200" dirty="0"/>
          </a:p>
        </p:txBody>
      </p:sp>
      <p:graphicFrame>
        <p:nvGraphicFramePr>
          <p:cNvPr id="22" name="Content Placeholder 57" title="Funding Chart">
            <a:extLst>
              <a:ext uri="{FF2B5EF4-FFF2-40B4-BE49-F238E27FC236}">
                <a16:creationId xmlns:a16="http://schemas.microsoft.com/office/drawing/2014/main" id="{15348BCD-84A4-1160-F657-BE90FB6DBC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7965429"/>
              </p:ext>
            </p:extLst>
          </p:nvPr>
        </p:nvGraphicFramePr>
        <p:xfrm>
          <a:off x="3805079" y="2370137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Content Placeholder 57" title="Funding Chart">
            <a:extLst>
              <a:ext uri="{FF2B5EF4-FFF2-40B4-BE49-F238E27FC236}">
                <a16:creationId xmlns:a16="http://schemas.microsoft.com/office/drawing/2014/main" id="{EEBF65D6-C8F5-6A7A-7485-56561C1DFC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675538"/>
              </p:ext>
            </p:extLst>
          </p:nvPr>
        </p:nvGraphicFramePr>
        <p:xfrm>
          <a:off x="6541023" y="2370136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6" name="Content Placeholder 57" title="Funding Chart">
            <a:extLst>
              <a:ext uri="{FF2B5EF4-FFF2-40B4-BE49-F238E27FC236}">
                <a16:creationId xmlns:a16="http://schemas.microsoft.com/office/drawing/2014/main" id="{1DD52138-7ECB-81DF-5F40-F43AC3C72A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7320472"/>
              </p:ext>
            </p:extLst>
          </p:nvPr>
        </p:nvGraphicFramePr>
        <p:xfrm>
          <a:off x="9273586" y="2370135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8290B41C-DD7E-5F46-6B9A-8AD4139074D0}"/>
              </a:ext>
            </a:extLst>
          </p:cNvPr>
          <p:cNvSpPr/>
          <p:nvPr/>
        </p:nvSpPr>
        <p:spPr>
          <a:xfrm>
            <a:off x="1639154" y="2588128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AB87AA-4713-26CE-FDAC-078F17E91C6B}"/>
              </a:ext>
            </a:extLst>
          </p:cNvPr>
          <p:cNvSpPr/>
          <p:nvPr/>
        </p:nvSpPr>
        <p:spPr>
          <a:xfrm>
            <a:off x="4375098" y="2605190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72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80F2F4-2444-3F70-AB29-B9597527DAF8}"/>
              </a:ext>
            </a:extLst>
          </p:cNvPr>
          <p:cNvSpPr/>
          <p:nvPr/>
        </p:nvSpPr>
        <p:spPr>
          <a:xfrm>
            <a:off x="7109351" y="2600201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857325-B3BB-92EF-83B5-276645EFD2A1}"/>
              </a:ext>
            </a:extLst>
          </p:cNvPr>
          <p:cNvSpPr/>
          <p:nvPr/>
        </p:nvSpPr>
        <p:spPr>
          <a:xfrm>
            <a:off x="9828078" y="2587739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7826B45-E718-1BAA-06FA-C14AF420FF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D148146-B96B-57A9-5C76-2021811ABEAB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8492360D-61E5-00C2-AEFA-717D4692CE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447C84F1-809A-0925-DB4D-0D2077D66C7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9380668-FB90-63C5-4285-EC744550DF08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1817CC30-88DB-C45C-36E3-F462A7DE4469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11C4B79-1FD6-A116-ABA2-C861ACCD46C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275B4C23-6351-48D5-D6D0-10F26E61BD8C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3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8" grpId="0">
        <p:bldAsOne/>
      </p:bldGraphic>
      <p:bldP spid="3" grpId="0" build="p"/>
      <p:bldP spid="5" grpId="0" build="p"/>
      <p:bldGraphic spid="60" grpId="0">
        <p:bldAsOne/>
      </p:bldGraphic>
      <p:bldP spid="10" grpId="0" build="p"/>
      <p:bldGraphic spid="61" grpId="0">
        <p:bldAsOne/>
      </p:bldGraphic>
      <p:bldP spid="12" grpId="0" build="p"/>
      <p:bldGraphic spid="22" grpId="0">
        <p:bldAsOne/>
      </p:bldGraphic>
      <p:bldGraphic spid="25" grpId="0">
        <p:bldAsOne/>
      </p:bldGraphic>
      <p:bldGraphic spid="26" grpId="0">
        <p:bldAsOne/>
      </p:bldGraphic>
      <p:bldP spid="20" grpId="0"/>
      <p:bldP spid="28" grpId="0"/>
      <p:bldP spid="31" grpId="0"/>
      <p:bldP spid="32" grpId="0"/>
      <p:bldP spid="34" grpId="0" build="p"/>
      <p:bldP spid="38" grpId="0" build="p"/>
      <p:bldP spid="4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CF856E-A9FE-AB7B-5050-E73A3DBEB13C}"/>
              </a:ext>
            </a:extLst>
          </p:cNvPr>
          <p:cNvSpPr txBox="1">
            <a:spLocks/>
          </p:cNvSpPr>
          <p:nvPr/>
        </p:nvSpPr>
        <p:spPr>
          <a:xfrm>
            <a:off x="6393438" y="3429000"/>
            <a:ext cx="5431971" cy="846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LÝ DO CHỌN ĐỀ TÀI</a:t>
            </a:r>
            <a:endParaRPr lang="en-Z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0C002-EFA1-881B-60A8-79B3E37DAECC}"/>
              </a:ext>
            </a:extLst>
          </p:cNvPr>
          <p:cNvSpPr/>
          <p:nvPr/>
        </p:nvSpPr>
        <p:spPr>
          <a:xfrm>
            <a:off x="6393438" y="2228671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4851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4202806" cy="1325563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LÝ DO CHỌN ĐỀ TÀI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797301" cy="2519363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K-d Tree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K-nearest neighbors.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ZA" sz="1200" smtClean="0"/>
              <a:pPr/>
              <a:t>4</a:t>
            </a:fld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3438" y="3429000"/>
            <a:ext cx="5431971" cy="84630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  <a:endParaRPr lang="en-ZA" sz="3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67FA6-67AB-7B4B-005A-6FDA9E4BC6E0}"/>
              </a:ext>
            </a:extLst>
          </p:cNvPr>
          <p:cNvSpPr/>
          <p:nvPr/>
        </p:nvSpPr>
        <p:spPr>
          <a:xfrm>
            <a:off x="6393438" y="2228671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72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927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481138"/>
            <a:ext cx="2489200" cy="5143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MỤC TIÊU CHUNG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3040" y="2557463"/>
            <a:ext cx="2663099" cy="514350"/>
          </a:xfrm>
        </p:spPr>
        <p:txBody>
          <a:bodyPr/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MỤC TIÊU CỤ THỂ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402865" cy="1010842"/>
          </a:xfrm>
        </p:spPr>
        <p:txBody>
          <a:bodyPr>
            <a:norm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>
            <a:norm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K-d Tree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776862" cy="1010842"/>
          </a:xfrm>
        </p:spPr>
        <p:txBody>
          <a:bodyPr>
            <a:normAutofit/>
          </a:bodyPr>
          <a:lstStyle/>
          <a:p>
            <a:r>
              <a:rPr lang="vi-VN" sz="1600" dirty="0">
                <a:latin typeface="Arial" panose="020B0604020202020204" pitchFamily="34" charset="0"/>
                <a:cs typeface="Arial" panose="020B0604020202020204" pitchFamily="34" charset="0"/>
              </a:rPr>
              <a:t>Chỉ rõ ưu điểm và hạn chế của cấu trúc dữ liệu K-d Tree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>
            <a:norm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tiềm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z="1200" smtClean="0"/>
              <a:pPr/>
              <a:t>6</a:t>
            </a:fld>
            <a:endParaRPr lang="en-US" sz="12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7EF21D-8BDD-8407-18A6-61B7D7F51EFC}"/>
              </a:ext>
            </a:extLst>
          </p:cNvPr>
          <p:cNvCxnSpPr>
            <a:cxnSpLocks/>
          </p:cNvCxnSpPr>
          <p:nvPr/>
        </p:nvCxnSpPr>
        <p:spPr>
          <a:xfrm>
            <a:off x="111760" y="2448560"/>
            <a:ext cx="969264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7" grpId="0" build="p"/>
      <p:bldP spid="8" grpId="0" build="p"/>
      <p:bldP spid="9" grpId="0" build="p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z="1200" smtClean="0"/>
              <a:pPr/>
              <a:t>7</a:t>
            </a:fld>
            <a:endParaRPr lang="en-US" sz="12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19590D-DAF4-8CE7-5365-AA1A2AE5D49C}"/>
              </a:ext>
            </a:extLst>
          </p:cNvPr>
          <p:cNvSpPr txBox="1">
            <a:spLocks/>
          </p:cNvSpPr>
          <p:nvPr/>
        </p:nvSpPr>
        <p:spPr>
          <a:xfrm>
            <a:off x="1362075" y="3660774"/>
            <a:ext cx="5431971" cy="846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K-D TREE</a:t>
            </a:r>
            <a:endParaRPr lang="en-Z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83E98-B3CF-7EAD-D61E-FD536F0893E7}"/>
              </a:ext>
            </a:extLst>
          </p:cNvPr>
          <p:cNvSpPr/>
          <p:nvPr/>
        </p:nvSpPr>
        <p:spPr>
          <a:xfrm>
            <a:off x="1362075" y="1676222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72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830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481116"/>
            <a:ext cx="8421688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K-D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0027" y="5482726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ƯU ĐIỂM VÀ HẠN CHẾ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5" y="2152062"/>
            <a:ext cx="4031030" cy="365125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TÌM KIẾM ĐIỂM GẦN NHẤT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3908370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CHÈN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3908370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XÓA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z="1200" smtClean="0"/>
              <a:pPr/>
              <a:t>8</a:t>
            </a:fld>
            <a:endParaRPr lang="en-US" sz="1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006EF7-21E8-17E3-B220-CBA8009EE9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2659287"/>
            <a:ext cx="4031030" cy="1057308"/>
          </a:xfrm>
        </p:spPr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B1AF91-4A9A-72B2-C8A3-3D306C7172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415595"/>
            <a:ext cx="4031030" cy="1057308"/>
          </a:xfrm>
        </p:spPr>
        <p:txBody>
          <a:bodyPr/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174D46-7F64-8C5C-F12D-14860668AE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415595"/>
            <a:ext cx="4031030" cy="1057308"/>
          </a:xfrm>
        </p:spPr>
        <p:txBody>
          <a:bodyPr/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0267E-F1FD-AA2A-9544-69382BD648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2659287"/>
            <a:ext cx="4031030" cy="1057308"/>
          </a:xfrm>
        </p:spPr>
        <p:txBody>
          <a:bodyPr/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K-d Tree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Euclidean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56D223-0CDA-35B3-2A17-D743C4DB4333}"/>
              </a:ext>
            </a:extLst>
          </p:cNvPr>
          <p:cNvSpPr txBox="1">
            <a:spLocks/>
          </p:cNvSpPr>
          <p:nvPr/>
        </p:nvSpPr>
        <p:spPr>
          <a:xfrm>
            <a:off x="1484749" y="2152061"/>
            <a:ext cx="4031945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DỰNG CÂY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 build="p"/>
      <p:bldP spid="9" grpId="0" build="p"/>
      <p:bldP spid="12" grpId="0" build="p"/>
      <p:bldP spid="14" grpId="0" build="p"/>
      <p:bldP spid="16" grpId="0" build="p"/>
      <p:bldP spid="18" grpId="0" build="p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DỮ LIỆU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Euclidean K </a:t>
            </a:r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CHIỀU KHÔNG GIAN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CÂY NHỊ PHÂN CÂN BẰNG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ĐỘ PHỨC TẠP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7F39C97C-2DDC-4706-B96C-B02FAE53A426}"/>
                  </a:ext>
                </a:extLst>
              </p:cNvPr>
              <p:cNvSpPr>
                <a:spLocks noGrp="1"/>
              </p:cNvSpPr>
              <p:nvPr>
                <p:ph type="body" sz="quarter" idx="28"/>
              </p:nvPr>
            </p:nvSpPr>
            <p:spPr>
              <a:xfrm>
                <a:off x="5919680" y="5159449"/>
                <a:ext cx="5431971" cy="5579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ZA" dirty="0">
                    <a:latin typeface="Arial" panose="020B0604020202020204" pitchFamily="34" charset="0"/>
                    <a:cs typeface="Arial" panose="020B0604020202020204" pitchFamily="34" charset="0"/>
                  </a:rPr>
                  <a:t>Bộ </a:t>
                </a:r>
                <a:r>
                  <a:rPr lang="en-Z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nhớ</a:t>
                </a:r>
                <a:r>
                  <a:rPr lang="en-ZA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Z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Z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Z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Thuật</a:t>
                </a:r>
                <a:r>
                  <a:rPr lang="en-Z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Z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toán</a:t>
                </a:r>
                <a:r>
                  <a:rPr lang="en-ZA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ZA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ZA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ZA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ZA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ZA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 Placeholder 9">
                <a:extLst>
                  <a:ext uri="{FF2B5EF4-FFF2-40B4-BE49-F238E27FC236}">
                    <a16:creationId xmlns:a16="http://schemas.microsoft.com/office/drawing/2014/main" id="{7F39C97C-2DDC-4706-B96C-B02FAE53A4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8"/>
              </p:nvPr>
            </p:nvSpPr>
            <p:spPr>
              <a:xfrm>
                <a:off x="5919680" y="5159449"/>
                <a:ext cx="5431971" cy="557950"/>
              </a:xfrm>
              <a:blipFill>
                <a:blip r:embed="rId2"/>
                <a:stretch>
                  <a:fillRect l="-112" t="-7609" b="-5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AF89039-44D7-A442-340D-C161C8B99D6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Sau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đôi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1E8FFBC-840E-50E3-EE02-8ED71FF1690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K-d Tree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7" grpId="0" build="p"/>
      <p:bldP spid="9" grpId="0" build="p"/>
      <p:bldP spid="10" grpId="0" uiExpand="1" build="p"/>
      <p:bldP spid="12" grpId="0" build="p"/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CAF402-DEFB-5729-49F1-4C68722CBC6A}"/>
              </a:ext>
            </a:extLst>
          </p:cNvPr>
          <p:cNvSpPr txBox="1"/>
          <p:nvPr/>
        </p:nvSpPr>
        <p:spPr>
          <a:xfrm>
            <a:off x="1784058" y="1582340"/>
            <a:ext cx="8623884" cy="369331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make_kd_tree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&gt;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.sort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&gt;&gt;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make_kd_tree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make_kd_tree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:],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22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TÌM ĐIỂM GẦN NHẤT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65257" y="1903933"/>
            <a:ext cx="1183179" cy="492025"/>
          </a:xfrm>
        </p:spPr>
        <p:txBody>
          <a:bodyPr>
            <a:normAutofit/>
          </a:bodyPr>
          <a:lstStyle/>
          <a:p>
            <a:r>
              <a:rPr lang="en-ZA" dirty="0"/>
              <a:t>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4044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ZA" dirty="0"/>
              <a:t>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88449" y="4415399"/>
            <a:ext cx="1183179" cy="492025"/>
          </a:xfrm>
        </p:spPr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-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11</a:t>
            </a:fld>
            <a:endParaRPr lang="en-ZA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Graphic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61213" y="109719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BE58488-11B1-406B-BAB7-312E526E4D70}"/>
              </a:ext>
            </a:extLst>
          </p:cNvPr>
          <p:cNvSpPr txBox="1">
            <a:spLocks/>
          </p:cNvSpPr>
          <p:nvPr/>
        </p:nvSpPr>
        <p:spPr>
          <a:xfrm>
            <a:off x="5101302" y="3715399"/>
            <a:ext cx="1706965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8E1312-24E2-3D74-E390-F7AF7A489C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D6A6999-B972-D8FE-97BC-28F3A5A1195C}"/>
              </a:ext>
            </a:extLst>
          </p:cNvPr>
          <p:cNvSpPr txBox="1">
            <a:spLocks/>
          </p:cNvSpPr>
          <p:nvPr/>
        </p:nvSpPr>
        <p:spPr>
          <a:xfrm>
            <a:off x="3195901" y="2583663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?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EF38BD-69E1-1BCA-0B26-9BEC022F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8975" y="2539743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151310-4879-45D3-3F60-6112B0478F85}"/>
              </a:ext>
            </a:extLst>
          </p:cNvPr>
          <p:cNvCxnSpPr>
            <a:cxnSpLocks/>
          </p:cNvCxnSpPr>
          <p:nvPr/>
        </p:nvCxnSpPr>
        <p:spPr>
          <a:xfrm flipV="1">
            <a:off x="4758903" y="1526796"/>
            <a:ext cx="0" cy="394199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AC73A-EABF-4B27-7451-D0207BACAF54}"/>
              </a:ext>
            </a:extLst>
          </p:cNvPr>
          <p:cNvCxnSpPr/>
          <p:nvPr/>
        </p:nvCxnSpPr>
        <p:spPr>
          <a:xfrm>
            <a:off x="1912690" y="4629369"/>
            <a:ext cx="284621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C2E25D-5510-613B-FB04-9D97F871D79F}"/>
              </a:ext>
            </a:extLst>
          </p:cNvPr>
          <p:cNvCxnSpPr>
            <a:cxnSpLocks/>
          </p:cNvCxnSpPr>
          <p:nvPr/>
        </p:nvCxnSpPr>
        <p:spPr>
          <a:xfrm flipH="1">
            <a:off x="4766469" y="5183654"/>
            <a:ext cx="687745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61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TÌM ĐIỂM GẦN NHẤT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65257" y="1903933"/>
            <a:ext cx="1183179" cy="492025"/>
          </a:xfrm>
        </p:spPr>
        <p:txBody>
          <a:bodyPr>
            <a:normAutofit/>
          </a:bodyPr>
          <a:lstStyle/>
          <a:p>
            <a:r>
              <a:rPr lang="en-ZA" dirty="0"/>
              <a:t>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4044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ZA" dirty="0"/>
              <a:t>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88449" y="4415399"/>
            <a:ext cx="1183179" cy="492025"/>
          </a:xfrm>
        </p:spPr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-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12</a:t>
            </a:fld>
            <a:endParaRPr lang="en-ZA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Graphic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61213" y="109719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BE58488-11B1-406B-BAB7-312E526E4D70}"/>
              </a:ext>
            </a:extLst>
          </p:cNvPr>
          <p:cNvSpPr txBox="1">
            <a:spLocks/>
          </p:cNvSpPr>
          <p:nvPr/>
        </p:nvSpPr>
        <p:spPr>
          <a:xfrm>
            <a:off x="5101302" y="3715399"/>
            <a:ext cx="1706965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8E1312-24E2-3D74-E390-F7AF7A489C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D6A6999-B972-D8FE-97BC-28F3A5A1195C}"/>
              </a:ext>
            </a:extLst>
          </p:cNvPr>
          <p:cNvSpPr txBox="1">
            <a:spLocks/>
          </p:cNvSpPr>
          <p:nvPr/>
        </p:nvSpPr>
        <p:spPr>
          <a:xfrm>
            <a:off x="3195901" y="2583663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?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EF38BD-69E1-1BCA-0B26-9BEC022F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8975" y="2539743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151310-4879-45D3-3F60-6112B0478F85}"/>
              </a:ext>
            </a:extLst>
          </p:cNvPr>
          <p:cNvCxnSpPr>
            <a:cxnSpLocks/>
          </p:cNvCxnSpPr>
          <p:nvPr/>
        </p:nvCxnSpPr>
        <p:spPr>
          <a:xfrm flipV="1">
            <a:off x="4758903" y="1526796"/>
            <a:ext cx="0" cy="394199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AC73A-EABF-4B27-7451-D0207BACAF54}"/>
              </a:ext>
            </a:extLst>
          </p:cNvPr>
          <p:cNvCxnSpPr/>
          <p:nvPr/>
        </p:nvCxnSpPr>
        <p:spPr>
          <a:xfrm>
            <a:off x="1912690" y="4629369"/>
            <a:ext cx="284621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C2E25D-5510-613B-FB04-9D97F871D79F}"/>
              </a:ext>
            </a:extLst>
          </p:cNvPr>
          <p:cNvCxnSpPr>
            <a:cxnSpLocks/>
          </p:cNvCxnSpPr>
          <p:nvPr/>
        </p:nvCxnSpPr>
        <p:spPr>
          <a:xfrm flipH="1">
            <a:off x="4766469" y="5183654"/>
            <a:ext cx="687745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D4A060-8B17-82A4-E390-59E222FA26BD}"/>
              </a:ext>
            </a:extLst>
          </p:cNvPr>
          <p:cNvCxnSpPr>
            <a:stCxn id="34" idx="0"/>
            <a:endCxn id="33" idx="3"/>
          </p:cNvCxnSpPr>
          <p:nvPr/>
        </p:nvCxnSpPr>
        <p:spPr>
          <a:xfrm>
            <a:off x="3787075" y="2539743"/>
            <a:ext cx="952453" cy="19464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BA61F5-C0DE-1D31-06EA-C8D17D6F2E5A}"/>
              </a:ext>
            </a:extLst>
          </p:cNvPr>
          <p:cNvCxnSpPr/>
          <p:nvPr/>
        </p:nvCxnSpPr>
        <p:spPr>
          <a:xfrm flipH="1">
            <a:off x="3240655" y="2550902"/>
            <a:ext cx="519479" cy="208301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50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TÌM ĐIỂM GẦN NHẤT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65257" y="1903933"/>
            <a:ext cx="1183179" cy="492025"/>
          </a:xfrm>
        </p:spPr>
        <p:txBody>
          <a:bodyPr>
            <a:normAutofit/>
          </a:bodyPr>
          <a:lstStyle/>
          <a:p>
            <a:r>
              <a:rPr lang="en-ZA" dirty="0"/>
              <a:t>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4044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ZA" dirty="0"/>
              <a:t>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88449" y="4415399"/>
            <a:ext cx="1183179" cy="492025"/>
          </a:xfrm>
        </p:spPr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ZA" dirty="0"/>
              <a:t>-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/>
          <a:lstStyle/>
          <a:p>
            <a:r>
              <a:rPr lang="en-US" dirty="0"/>
              <a:t>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13</a:t>
            </a:fld>
            <a:endParaRPr lang="en-ZA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Graphic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61213" y="109719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BE58488-11B1-406B-BAB7-312E526E4D70}"/>
              </a:ext>
            </a:extLst>
          </p:cNvPr>
          <p:cNvSpPr txBox="1">
            <a:spLocks/>
          </p:cNvSpPr>
          <p:nvPr/>
        </p:nvSpPr>
        <p:spPr>
          <a:xfrm>
            <a:off x="5101302" y="3715399"/>
            <a:ext cx="1706965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8E1312-24E2-3D74-E390-F7AF7A489C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D6A6999-B972-D8FE-97BC-28F3A5A1195C}"/>
              </a:ext>
            </a:extLst>
          </p:cNvPr>
          <p:cNvSpPr txBox="1">
            <a:spLocks/>
          </p:cNvSpPr>
          <p:nvPr/>
        </p:nvSpPr>
        <p:spPr>
          <a:xfrm>
            <a:off x="3195901" y="2583663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?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EF38BD-69E1-1BCA-0B26-9BEC022F5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8975" y="2539743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151310-4879-45D3-3F60-6112B0478F85}"/>
              </a:ext>
            </a:extLst>
          </p:cNvPr>
          <p:cNvCxnSpPr>
            <a:cxnSpLocks/>
          </p:cNvCxnSpPr>
          <p:nvPr/>
        </p:nvCxnSpPr>
        <p:spPr>
          <a:xfrm flipV="1">
            <a:off x="4758903" y="1526796"/>
            <a:ext cx="0" cy="394199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AC73A-EABF-4B27-7451-D0207BACAF54}"/>
              </a:ext>
            </a:extLst>
          </p:cNvPr>
          <p:cNvCxnSpPr/>
          <p:nvPr/>
        </p:nvCxnSpPr>
        <p:spPr>
          <a:xfrm>
            <a:off x="1912690" y="4629369"/>
            <a:ext cx="284621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C2E25D-5510-613B-FB04-9D97F871D79F}"/>
              </a:ext>
            </a:extLst>
          </p:cNvPr>
          <p:cNvCxnSpPr>
            <a:cxnSpLocks/>
          </p:cNvCxnSpPr>
          <p:nvPr/>
        </p:nvCxnSpPr>
        <p:spPr>
          <a:xfrm flipH="1">
            <a:off x="4766469" y="5183654"/>
            <a:ext cx="687745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D4A060-8B17-82A4-E390-59E222FA26BD}"/>
              </a:ext>
            </a:extLst>
          </p:cNvPr>
          <p:cNvCxnSpPr>
            <a:stCxn id="34" idx="0"/>
            <a:endCxn id="33" idx="3"/>
          </p:cNvCxnSpPr>
          <p:nvPr/>
        </p:nvCxnSpPr>
        <p:spPr>
          <a:xfrm>
            <a:off x="3787075" y="2539743"/>
            <a:ext cx="952453" cy="19464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B50DCA4-FD6C-720B-D32D-9A946D26818F}"/>
              </a:ext>
            </a:extLst>
          </p:cNvPr>
          <p:cNvCxnSpPr>
            <a:cxnSpLocks/>
            <a:stCxn id="34" idx="2"/>
            <a:endCxn id="31" idx="7"/>
          </p:cNvCxnSpPr>
          <p:nvPr/>
        </p:nvCxnSpPr>
        <p:spPr>
          <a:xfrm flipV="1">
            <a:off x="3748975" y="2345691"/>
            <a:ext cx="607872" cy="23215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81CEC1-6713-38D1-F290-A7C9513A4A62}"/>
              </a:ext>
            </a:extLst>
          </p:cNvPr>
          <p:cNvCxnSpPr>
            <a:cxnSpLocks/>
          </p:cNvCxnSpPr>
          <p:nvPr/>
        </p:nvCxnSpPr>
        <p:spPr>
          <a:xfrm flipV="1">
            <a:off x="3787075" y="2573211"/>
            <a:ext cx="979394" cy="175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90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077" y="814387"/>
            <a:ext cx="10443846" cy="5229226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vi-V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get_nearest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dist_func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dist_func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#dx &lt; 0 nghĩa là điểm P nằm phía bên phải của siêu phẳng x = kd_node[2][i] (nằm về phía x &gt; kd_node[2][i])</a:t>
            </a:r>
            <a:endParaRPr lang="vi-V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 </a:t>
            </a:r>
            <a:r>
              <a:rPr lang="vi-V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#thứ tự duyệt</a:t>
            </a:r>
            <a:endParaRPr lang="vi-V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#duyệt nhánh phải trước, nhánh trái sau</a:t>
            </a:r>
            <a:endParaRPr lang="vi-V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#duyệt nhánh trái trước, nhánh phải sau</a:t>
            </a:r>
            <a:endParaRPr lang="vi-V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077" y="1606073"/>
            <a:ext cx="10443846" cy="3645853"/>
          </a:xfrm>
          <a:solidFill>
            <a:schemeClr val="tx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vi-V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#Duyệt nhánh cây ưu tiên trước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get_nearest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dist_func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#Nếu cần thì duyệt nhánh cây còn lại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Giải thích: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    Nếu khoảng cách nhỏ nhất đã tìm ra (tính đến thời điểm hiện tại) bé hơn khoảng cách xét trên siêu phẳng i giữa điểm P và điểm kd_node[2] 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    thì ta bỏ qua việc xét điểm này (nghĩa là bỏ qua việc xét nhánh cây có gốc là điểm đó)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'''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vi-V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vi-V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get_nearest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kd_node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dist_func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vi-V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</a:t>
            </a:r>
            <a:endParaRPr lang="vi-V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771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FF32-E436-9ED1-6E9A-FB30F8FD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FB80CF-7E31-3443-7FED-95601BEB5F78}"/>
              </a:ext>
            </a:extLst>
          </p:cNvPr>
          <p:cNvSpPr txBox="1">
            <a:spLocks/>
          </p:cNvSpPr>
          <p:nvPr/>
        </p:nvSpPr>
        <p:spPr>
          <a:xfrm>
            <a:off x="42164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TÌM TẬP ĐIỂM GẦN NHẤT</a:t>
            </a:r>
            <a:endParaRPr lang="en-US" dirty="0"/>
          </a:p>
        </p:txBody>
      </p:sp>
      <p:pic>
        <p:nvPicPr>
          <p:cNvPr id="1026" name="Picture 2" descr="Heap Data Structure - GeeksforGeeks">
            <a:extLst>
              <a:ext uri="{FF2B5EF4-FFF2-40B4-BE49-F238E27FC236}">
                <a16:creationId xmlns:a16="http://schemas.microsoft.com/office/drawing/2014/main" id="{CF47012E-505C-4FC4-B2A3-AE73B800A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10" y="1523012"/>
            <a:ext cx="7739380" cy="463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8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CHÈN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>
                <a:latin typeface="Arial" panose="020B0604020202020204" pitchFamily="34" charset="0"/>
                <a:cs typeface="Arial" panose="020B0604020202020204" pitchFamily="34" charset="0"/>
              </a:rPr>
              <a:t>Vị trí chèn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50755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ZA" noProof="1">
                <a:latin typeface="Arial" panose="020B0604020202020204" pitchFamily="34" charset="0"/>
                <a:cs typeface="Arial" panose="020B0604020202020204" pitchFamily="34" charset="0"/>
              </a:rPr>
              <a:t>ĐỘ PHỨC TẠP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6E82690-B145-4D4F-B2D1-0B2A8C50FD71}"/>
                  </a:ext>
                </a:extLst>
              </p:cNvPr>
              <p:cNvSpPr>
                <a:spLocks noGrp="1"/>
              </p:cNvSpPr>
              <p:nvPr>
                <p:ph type="body" sz="quarter" idx="26"/>
              </p:nvPr>
            </p:nvSpPr>
            <p:spPr>
              <a:xfrm>
                <a:off x="5921828" y="5404932"/>
                <a:ext cx="5431971" cy="55795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ZA" i="1" noProof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ZA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6E82690-B145-4D4F-B2D1-0B2A8C50FD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6"/>
              </p:nvPr>
            </p:nvSpPr>
            <p:spPr>
              <a:xfrm>
                <a:off x="5921828" y="5404932"/>
                <a:ext cx="5431971" cy="5579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17</a:t>
            </a:fld>
            <a:endParaRPr lang="en-ZA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0BA173-618C-95BA-E52E-5C18633109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5"/>
            <a:ext cx="5430312" cy="770371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Mỗi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gốc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chèn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B52D12-013C-DCB6-D16A-CEA0C2C72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lá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8BBCB13-F00D-4314-3D55-E80407FA9F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ZA" dirty="0" err="1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>
                <a:latin typeface="Arial" panose="020B0604020202020204" pitchFamily="34" charset="0"/>
                <a:cs typeface="Arial" panose="020B0604020202020204" pitchFamily="34" charset="0"/>
              </a:rPr>
              <a:t>Tìm nút xóa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50755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ZA" noProof="1">
                <a:latin typeface="Arial" panose="020B0604020202020204" pitchFamily="34" charset="0"/>
                <a:cs typeface="Arial" panose="020B0604020202020204" pitchFamily="34" charset="0"/>
              </a:rPr>
              <a:t>ĐỘ PHỨC TẠP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6E82690-B145-4D4F-B2D1-0B2A8C50FD71}"/>
                  </a:ext>
                </a:extLst>
              </p:cNvPr>
              <p:cNvSpPr>
                <a:spLocks noGrp="1"/>
              </p:cNvSpPr>
              <p:nvPr>
                <p:ph type="body" sz="quarter" idx="26"/>
              </p:nvPr>
            </p:nvSpPr>
            <p:spPr>
              <a:xfrm>
                <a:off x="5921828" y="5404932"/>
                <a:ext cx="5431971" cy="55795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ZA" i="1" noProof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ZA" i="1" noProof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ZA" noProof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6E82690-B145-4D4F-B2D1-0B2A8C50FD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6"/>
              </p:nvPr>
            </p:nvSpPr>
            <p:spPr>
              <a:xfrm>
                <a:off x="5921828" y="5404932"/>
                <a:ext cx="5431971" cy="5579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18</a:t>
            </a:fld>
            <a:endParaRPr lang="en-ZA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0BA173-618C-95BA-E52E-5C18633109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5"/>
            <a:ext cx="5430312" cy="770371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Duyệt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tọa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nằm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B52D12-013C-DCB6-D16A-CEA0C2C72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8BBCB13-F00D-4314-3D55-E80407FA9F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488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9">
            <a:extLst>
              <a:ext uri="{FF2B5EF4-FFF2-40B4-BE49-F238E27FC236}">
                <a16:creationId xmlns:a16="http://schemas.microsoft.com/office/drawing/2014/main" id="{E7F6BC96-8EB9-CBF2-C40D-8FB542A7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96613"/>
            <a:ext cx="10515600" cy="1325563"/>
          </a:xfrm>
        </p:spPr>
        <p:txBody>
          <a:bodyPr/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5DFA121E-A374-7F34-C783-885BCBDC4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076444"/>
              </p:ext>
            </p:extLst>
          </p:nvPr>
        </p:nvGraphicFramePr>
        <p:xfrm>
          <a:off x="2032000" y="2061255"/>
          <a:ext cx="812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21985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3692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Dễ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cài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đặt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gần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nhanh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Hoạt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tĩnh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chế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Thao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chèn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hoặc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xóa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nút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khiến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cây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mất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cân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bằng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ảnh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hưởng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suất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cây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K-d Tree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gần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giảm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rõ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rệt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vấn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nằm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cách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quá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cây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bộ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là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chiều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Hiệu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K-d Tree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tác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gần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giảm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rất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nhiều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25028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303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7ECCED-B917-5A95-F130-5A8B85028D1A}"/>
              </a:ext>
            </a:extLst>
          </p:cNvPr>
          <p:cNvSpPr txBox="1">
            <a:spLocks/>
          </p:cNvSpPr>
          <p:nvPr/>
        </p:nvSpPr>
        <p:spPr>
          <a:xfrm>
            <a:off x="6393438" y="3429000"/>
            <a:ext cx="5431971" cy="846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F19FC-9B81-6B66-D2B4-574D6D7D0AEA}"/>
              </a:ext>
            </a:extLst>
          </p:cNvPr>
          <p:cNvSpPr/>
          <p:nvPr/>
        </p:nvSpPr>
        <p:spPr>
          <a:xfrm>
            <a:off x="6393438" y="2228671"/>
            <a:ext cx="72071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72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9032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19416"/>
            <a:ext cx="8421688" cy="1325563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1455DF-5CEC-44A2-A92D-8E901D15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4842" y="3138599"/>
            <a:ext cx="1853804" cy="823912"/>
          </a:xfrm>
        </p:spPr>
        <p:txBody>
          <a:bodyPr/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7E7B18-D05F-4C44-8718-8C671160FC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046127" y="3051177"/>
            <a:ext cx="2099745" cy="823912"/>
          </a:xfrm>
        </p:spPr>
        <p:txBody>
          <a:bodyPr/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nhược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EAD5C6-02F0-4D27-8D85-1BD5EA833D6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640668" y="3138599"/>
            <a:ext cx="1666176" cy="823912"/>
          </a:xfrm>
        </p:spPr>
        <p:txBody>
          <a:bodyPr/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Tiềm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/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067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7AA5C-AD28-27E3-B6A7-A677442CA47A}"/>
              </a:ext>
            </a:extLst>
          </p:cNvPr>
          <p:cNvSpPr txBox="1"/>
          <p:nvPr/>
        </p:nvSpPr>
        <p:spPr>
          <a:xfrm>
            <a:off x="4267200" y="3429000"/>
            <a:ext cx="4462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Contact: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Nguyễn Hoàng Hải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https://github.com/SKN443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21522034@gm.uit.edu.vn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light pitch_tm56180624_Win32_LW_SL_v3" id="{5A4404DB-4ECC-4373-8C35-B428B8CCB737}" vid="{DB02F28E-0C23-47F0-A348-62748A79E2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300</TotalTime>
  <Words>1159</Words>
  <Application>Microsoft Office PowerPoint</Application>
  <PresentationFormat>Widescreen</PresentationFormat>
  <Paragraphs>168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Consolas</vt:lpstr>
      <vt:lpstr>Tenorite</vt:lpstr>
      <vt:lpstr>Monoline</vt:lpstr>
      <vt:lpstr>K-d tree</vt:lpstr>
      <vt:lpstr>TỔNG QUAN</vt:lpstr>
      <vt:lpstr>PowerPoint Presentation</vt:lpstr>
      <vt:lpstr>LÝ DO CHỌN ĐỀ TÀI</vt:lpstr>
      <vt:lpstr>MỤC TIÊU</vt:lpstr>
      <vt:lpstr>MỤC TIÊU</vt:lpstr>
      <vt:lpstr>PowerPoint Presentation</vt:lpstr>
      <vt:lpstr>K-D TREE</vt:lpstr>
      <vt:lpstr>Dựng cây</vt:lpstr>
      <vt:lpstr>PowerPoint Presentation</vt:lpstr>
      <vt:lpstr>TÌM ĐIỂM GẦN NHẤT</vt:lpstr>
      <vt:lpstr>TÌM ĐIỂM GẦN NHẤT</vt:lpstr>
      <vt:lpstr>TÌM ĐIỂM GẦN NHẤT</vt:lpstr>
      <vt:lpstr>PowerPoint Presentation</vt:lpstr>
      <vt:lpstr>PowerPoint Presentation</vt:lpstr>
      <vt:lpstr>PowerPoint Presentation</vt:lpstr>
      <vt:lpstr>CHÈN</vt:lpstr>
      <vt:lpstr>xóa</vt:lpstr>
      <vt:lpstr>Ưu điểm và hạn chế</vt:lpstr>
      <vt:lpstr>PowerPoint Presentation</vt:lpstr>
      <vt:lpstr>Kết luận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K-d tree</dc:title>
  <dc:creator>Nguyễn Hoàng Hải</dc:creator>
  <cp:lastModifiedBy>Nguyễn Hoàng Hải</cp:lastModifiedBy>
  <cp:revision>2</cp:revision>
  <dcterms:created xsi:type="dcterms:W3CDTF">2022-06-08T14:47:38Z</dcterms:created>
  <dcterms:modified xsi:type="dcterms:W3CDTF">2022-06-09T04:21:23Z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